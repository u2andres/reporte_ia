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3" r:id="rId9"/>
    <p:sldId id="264" r:id="rId10"/>
    <p:sldId id="265" r:id="rId11"/>
    <p:sldId id="266" r:id="rId12"/>
    <p:sldId id="272" r:id="rId13"/>
    <p:sldId id="262" r:id="rId14"/>
    <p:sldId id="271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493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E65FC-2AEC-FF0C-6A8C-5291F500A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EB2BB4-B9BD-BCB1-620F-7128E8280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B87293-E034-E06C-E155-01F456E76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00BD4-C7AB-0173-1059-9C4725CB2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50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86C05-CD36-488C-17A7-7B6567E8B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CB2CB-8A49-3719-B88D-06D63F62A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CFDEBA-9B5A-090B-E598-692C01AFA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151BC-5258-8EA6-7FF1-C04785B27D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1891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9D5EA-AB38-450F-9EA1-5EDC95348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8E1958-631A-1092-1280-842DCC047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D9E0F0-8E83-C6B7-44CB-0130ED591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963DE-8C4E-02B0-9ED0-6A7DE521B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2840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F97316">
              <a:alpha val="22000"/>
            </a:srgbClr>
          </a:solidFill>
          <a:ln w="12700">
            <a:solidFill>
              <a:srgbClr val="F97316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411480" y="347472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658368" y="2926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MINISTERIO DE EDUCACIÓN  ·  SUBSECRETARÍA DE TECNOLOGÍA EDUCATIVA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explain legacy_system.php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64008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implementadores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desarrolladores.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94436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tecnológica con IA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11480" y="3493008"/>
            <a:ext cx="219456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411480" y="3703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·  Grupo </a:t>
            </a:r>
            <a:r>
              <a:rPr lang="en-US" sz="12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Desarrolladores</a:t>
            </a:r>
            <a:endParaRPr lang="en-US" sz="1200" dirty="0"/>
          </a:p>
        </p:txBody>
      </p:sp>
      <p:pic>
        <p:nvPicPr>
          <p:cNvPr id="13" name="Imagen 15">
            <a:extLst>
              <a:ext uri="{FF2B5EF4-FFF2-40B4-BE49-F238E27FC236}">
                <a16:creationId xmlns:a16="http://schemas.microsoft.com/office/drawing/2014/main" id="{F75BD4FE-C197-5ABE-56F8-B9C667AAF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169" y="2737482"/>
            <a:ext cx="2053375" cy="12401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</a:t>
            </a:r>
            <a:r>
              <a:rPr lang="es-AR" sz="900" b="1" kern="0" spc="200" noProof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" y="566928"/>
            <a:ext cx="4160520" cy="40416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594360" y="731520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777240" y="731520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960120" y="731520"/>
            <a:ext cx="128016" cy="128016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188720" y="69494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ticket_proveedor.txt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93268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Asunto: Bug en módulo de facturación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13842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Sistema: ERP legacy — proveedor externo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34416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154990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Descripción: El cálculo de IVA falla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175564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documentos con retenciones.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196138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16712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5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Estado: ABIERTO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237286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B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 apertura: hace 6 semanas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257860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 proveedor: 'En análisis'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278434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299008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5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Presupuesto enviado: $2.400 USD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19582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5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'cambio fuera de contrato'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340156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360730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B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Workaround actual: planilla Excel manual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17720" y="23317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047488" y="566928"/>
            <a:ext cx="3685032" cy="4041648"/>
          </a:xfrm>
          <a:prstGeom prst="rect">
            <a:avLst/>
          </a:prstGeom>
          <a:solidFill>
            <a:srgbClr val="0D1117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5230368" y="731520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5413248" y="731520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Shape 24"/>
          <p:cNvSpPr/>
          <p:nvPr/>
        </p:nvSpPr>
        <p:spPr>
          <a:xfrm>
            <a:off x="5596128" y="731520"/>
            <a:ext cx="128016" cy="128016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5833872" y="6949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30368" y="93268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Explicá este módulo de facturación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30368" y="113842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30368" y="134416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Este módulo calcula IVA aplicando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30368" y="154990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tasa_base × coef. El bug está en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30368" y="175564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línea 847: no descuenta retenciones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30368" y="196138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de aplicar el coeficiente.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30368" y="216712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30368" y="237286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Fix propuesto: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30368" y="257860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base_neta = monto - retenciones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230368" y="278434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iva = base_neta * tasa_iva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230368" y="299008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230368" y="319582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Tests generados: ✓ 4/4 pasan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30368" y="340156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230368" y="360730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Tiempo total: 38 minutos.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11480" y="4736592"/>
            <a:ext cx="8321040" cy="292608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3" name="Text 41"/>
          <p:cNvSpPr/>
          <p:nvPr/>
        </p:nvSpPr>
        <p:spPr>
          <a:xfrm>
            <a:off x="594360" y="47548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es el objetivo de este programa. No aprender IA. Dejar de depender del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terceros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CONCEPTO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tecnológica.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3840480" cy="2788920"/>
          </a:xfrm>
          <a:prstGeom prst="rect">
            <a:avLst/>
          </a:prstGeom>
          <a:solidFill>
            <a:srgbClr val="EEF4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682496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68249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código que nadie toca porque nadie lo entiende.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066544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066544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menor pasa por el proveedor.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45059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245059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modificaciones tardan semanas y cuestan extra.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" y="283464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 del sistema vive afuera del equipo.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3218688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321868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implementa — pero no desarrolla.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79392" y="2240280"/>
            <a:ext cx="585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892040" y="1207008"/>
            <a:ext cx="3840480" cy="27889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507492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este programa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93208" y="1737360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5321808" y="16824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 leer y entender código heredado con IA.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93208" y="2121408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5321808" y="206654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 dar soporte sin depender del proveedor.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93208" y="2505456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5321808" y="24505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 hacer modificaciones y fixes inhouse.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93208" y="2889504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5321808" y="28346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 del sistema pasa al equipo.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93208" y="3273552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5321808" y="32186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50" noProof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desarrolla — y escala con proveedor.</a:t>
            </a:r>
            <a:endParaRPr lang="es-AR" sz="1150" noProof="0" dirty="0"/>
          </a:p>
        </p:txBody>
      </p:sp>
      <p:sp>
        <p:nvSpPr>
          <p:cNvPr id="29" name="Shape 27"/>
          <p:cNvSpPr/>
          <p:nvPr/>
        </p:nvSpPr>
        <p:spPr>
          <a:xfrm>
            <a:off x="411480" y="4160520"/>
            <a:ext cx="8321040" cy="749808"/>
          </a:xfrm>
          <a:prstGeom prst="rect">
            <a:avLst/>
          </a:prstGeom>
          <a:solidFill>
            <a:srgbClr val="F97316">
              <a:alpha val="10000"/>
            </a:srgbClr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Shape 28"/>
          <p:cNvSpPr/>
          <p:nvPr/>
        </p:nvSpPr>
        <p:spPr>
          <a:xfrm>
            <a:off x="411480" y="4160520"/>
            <a:ext cx="64008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621792" y="4206240"/>
            <a:ext cx="79552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no reemplaza al desarrollador. Le da el conocimiento que el proveedor le estaba cobrando.</a:t>
            </a:r>
            <a:endParaRPr lang="en-US" sz="1350" dirty="0"/>
          </a:p>
        </p:txBody>
      </p:sp>
      <p:pic>
        <p:nvPicPr>
          <p:cNvPr id="34" name="Imagen 15">
            <a:extLst>
              <a:ext uri="{FF2B5EF4-FFF2-40B4-BE49-F238E27FC236}">
                <a16:creationId xmlns:a16="http://schemas.microsoft.com/office/drawing/2014/main" id="{627B0472-FABC-5E04-90A1-BCA8AB948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867" y="88187"/>
            <a:ext cx="656409" cy="3964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CONTRASTE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antes y el después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4069080" cy="621792"/>
          </a:xfrm>
          <a:prstGeom prst="rect">
            <a:avLst/>
          </a:prstGeom>
          <a:solidFill>
            <a:srgbClr val="1A2B5E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4498848" y="1170432"/>
            <a:ext cx="4233672" cy="621792"/>
          </a:xfrm>
          <a:prstGeom prst="rect">
            <a:avLst/>
          </a:prstGeom>
          <a:solidFill>
            <a:srgbClr val="0891B2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379476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proveedor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617720" y="1207008"/>
            <a:ext cx="397764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tecnológica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792224"/>
            <a:ext cx="4069080" cy="621792"/>
          </a:xfrm>
          <a:prstGeom prst="rect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4498848" y="1792224"/>
            <a:ext cx="4233672" cy="621792"/>
          </a:xfrm>
          <a:prstGeom prst="rect">
            <a:avLst/>
          </a:prstGeom>
          <a:solidFill>
            <a:srgbClr val="F0FB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379476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legacy que nadie toca — 'si funciona no lo toques'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1828800"/>
            <a:ext cx="397764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explica el código: podés leerlo, entenderlo y modificarlo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414016"/>
            <a:ext cx="4069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4498848" y="2414016"/>
            <a:ext cx="423367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548640" y="2450592"/>
            <a:ext cx="379476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→ ticket → proveedor → semanas → presupuesto extra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2450592"/>
            <a:ext cx="397764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→ IA analiza el código → fix inhouse → horas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035808"/>
            <a:ext cx="4069080" cy="621792"/>
          </a:xfrm>
          <a:prstGeom prst="rect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4498848" y="3035808"/>
            <a:ext cx="4233672" cy="621792"/>
          </a:xfrm>
          <a:prstGeom prst="rect">
            <a:avLst/>
          </a:prstGeom>
          <a:solidFill>
            <a:srgbClr val="F0FB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548640" y="3072384"/>
            <a:ext cx="379476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menor pasa por afuera y cuesta dinero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17720" y="3072384"/>
            <a:ext cx="397764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interno puede hacer el cambio con soporte de IA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657600"/>
            <a:ext cx="4069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4498848" y="3657600"/>
            <a:ext cx="423367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548640" y="3694176"/>
            <a:ext cx="379476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 del sistema vive en el proveedor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17720" y="3694176"/>
            <a:ext cx="397764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 migra al equipo — la IA lo hace accesible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4279392"/>
            <a:ext cx="4069080" cy="621792"/>
          </a:xfrm>
          <a:prstGeom prst="rect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4498848" y="4279392"/>
            <a:ext cx="4233672" cy="621792"/>
          </a:xfrm>
          <a:prstGeom prst="rect">
            <a:avLst/>
          </a:prstGeom>
          <a:solidFill>
            <a:srgbClr val="F0FB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548640" y="4315968"/>
            <a:ext cx="379476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implementa lo que otros desarrollaron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17720" y="4315968"/>
            <a:ext cx="397764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desarrolla, mantiene y escala inhouse</a:t>
            </a:r>
            <a:endParaRPr lang="en-US" sz="1200" dirty="0"/>
          </a:p>
        </p:txBody>
      </p:sp>
      <p:pic>
        <p:nvPicPr>
          <p:cNvPr id="28" name="Imagen 15">
            <a:extLst>
              <a:ext uri="{FF2B5EF4-FFF2-40B4-BE49-F238E27FC236}">
                <a16:creationId xmlns:a16="http://schemas.microsoft.com/office/drawing/2014/main" id="{E2EB00EE-8FFF-4B11-1011-53758693F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867" y="88187"/>
            <a:ext cx="656409" cy="3964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desarrollo que </a:t>
            </a:r>
            <a:r>
              <a:rPr lang="en-US" sz="28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conocés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0" y="1188720"/>
            <a:ext cx="2651760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2286000" y="1207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1783080" cy="60350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76272" y="1508760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86000" y="1508760"/>
            <a:ext cx="26517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2359152" y="1545336"/>
            <a:ext cx="2505456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propia + experiencia acumulada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167128"/>
            <a:ext cx="1783080" cy="60350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411480" y="2167128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76272" y="2167128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286000" y="2167128"/>
            <a:ext cx="2651760" cy="603504"/>
          </a:xfrm>
          <a:prstGeom prst="rect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2359152" y="2203704"/>
            <a:ext cx="2505456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manual, Stack Overflow, copia y adapta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2825496"/>
            <a:ext cx="1783080" cy="60350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411480" y="2825496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76272" y="2825496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286000" y="2825496"/>
            <a:ext cx="26517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2359152" y="2862072"/>
            <a:ext cx="2505456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manual, bug hunting lento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3483864"/>
            <a:ext cx="1783080" cy="60350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411480" y="3483864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176272" y="3483864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286000" y="3483864"/>
            <a:ext cx="2651760" cy="603504"/>
          </a:xfrm>
          <a:prstGeom prst="rect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2359152" y="3520440"/>
            <a:ext cx="2505456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técnica: se deja para después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" y="4142232"/>
            <a:ext cx="1783080" cy="60350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411480" y="4142232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176272" y="4142232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286000" y="4142232"/>
            <a:ext cx="26517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Text 38"/>
          <p:cNvSpPr/>
          <p:nvPr/>
        </p:nvSpPr>
        <p:spPr>
          <a:xfrm>
            <a:off x="2359152" y="4178808"/>
            <a:ext cx="2505456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one-off, procesos manuales que escalan mal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11480" y="4800600"/>
            <a:ext cx="8321040" cy="22860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4" name="Shape 42"/>
          <p:cNvSpPr/>
          <p:nvPr/>
        </p:nvSpPr>
        <p:spPr>
          <a:xfrm>
            <a:off x="411480" y="4800600"/>
            <a:ext cx="64008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/>
          <p:nvPr/>
        </p:nvSpPr>
        <p:spPr>
          <a:xfrm>
            <a:off x="594360" y="4800600"/>
            <a:ext cx="8092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no es escribir más rápido. Es construir cosas que antes eran imposibles para un equipo de este tamaño.</a:t>
            </a:r>
            <a:endParaRPr lang="en-US" sz="1050" dirty="0"/>
          </a:p>
        </p:txBody>
      </p:sp>
      <p:pic>
        <p:nvPicPr>
          <p:cNvPr id="46" name="Imagen 15">
            <a:extLst>
              <a:ext uri="{FF2B5EF4-FFF2-40B4-BE49-F238E27FC236}">
                <a16:creationId xmlns:a16="http://schemas.microsoft.com/office/drawing/2014/main" id="{2F398BD6-4C0C-F24D-196F-ECB5696A6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867" y="88187"/>
            <a:ext cx="656409" cy="3964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1D9A35-4C16-CE15-44B7-8F6209FCF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A59CD7-D5A3-F03D-6190-D05C68EBD5D3}"/>
              </a:ext>
            </a:extLst>
          </p:cNvPr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B2CCAA9-E2B4-822F-0DB2-9EDC831367A9}"/>
              </a:ext>
            </a:extLst>
          </p:cNvPr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desarrollo que ya conocés </a:t>
            </a: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potenciado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706279E-07C6-0702-2C7D-4335266DE32A}"/>
              </a:ext>
            </a:extLst>
          </p:cNvPr>
          <p:cNvSpPr/>
          <p:nvPr/>
        </p:nvSpPr>
        <p:spPr>
          <a:xfrm>
            <a:off x="2286000" y="1188720"/>
            <a:ext cx="2651760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B6737A2-B394-3E7C-F26C-6E8E1553CDD2}"/>
              </a:ext>
            </a:extLst>
          </p:cNvPr>
          <p:cNvSpPr/>
          <p:nvPr/>
        </p:nvSpPr>
        <p:spPr>
          <a:xfrm>
            <a:off x="4956048" y="1188720"/>
            <a:ext cx="3776472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21ABBD8-FF01-CC61-88AD-8B1C20AAF288}"/>
              </a:ext>
            </a:extLst>
          </p:cNvPr>
          <p:cNvSpPr/>
          <p:nvPr/>
        </p:nvSpPr>
        <p:spPr>
          <a:xfrm>
            <a:off x="2286000" y="1207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IA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208ACEB-DC76-B0D4-4730-FAF387DD0B86}"/>
              </a:ext>
            </a:extLst>
          </p:cNvPr>
          <p:cNvSpPr/>
          <p:nvPr/>
        </p:nvSpPr>
        <p:spPr>
          <a:xfrm>
            <a:off x="4956048" y="1207008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IA integrada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E6268EF-7BA4-089C-16D3-7F261E434B87}"/>
              </a:ext>
            </a:extLst>
          </p:cNvPr>
          <p:cNvSpPr/>
          <p:nvPr/>
        </p:nvSpPr>
        <p:spPr>
          <a:xfrm>
            <a:off x="411480" y="1508760"/>
            <a:ext cx="1783080" cy="60350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A7914DC-E514-A714-8121-856417F543FC}"/>
              </a:ext>
            </a:extLst>
          </p:cNvPr>
          <p:cNvSpPr/>
          <p:nvPr/>
        </p:nvSpPr>
        <p:spPr>
          <a:xfrm>
            <a:off x="411480" y="1508760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DE5C777-9FDD-1DE7-D8E0-0BC64964C7F7}"/>
              </a:ext>
            </a:extLst>
          </p:cNvPr>
          <p:cNvSpPr/>
          <p:nvPr/>
        </p:nvSpPr>
        <p:spPr>
          <a:xfrm>
            <a:off x="2176272" y="1508760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C995B33-021E-07D0-52FF-9AE803121484}"/>
              </a:ext>
            </a:extLst>
          </p:cNvPr>
          <p:cNvSpPr/>
          <p:nvPr/>
        </p:nvSpPr>
        <p:spPr>
          <a:xfrm>
            <a:off x="2286000" y="1508760"/>
            <a:ext cx="26517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BAA4496-BDF8-D37D-ABC0-EA00EB86A777}"/>
              </a:ext>
            </a:extLst>
          </p:cNvPr>
          <p:cNvSpPr/>
          <p:nvPr/>
        </p:nvSpPr>
        <p:spPr>
          <a:xfrm>
            <a:off x="2359152" y="1545336"/>
            <a:ext cx="2505456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propia + experiencia acumulada</a:t>
            </a:r>
            <a:endParaRPr lang="en-US" sz="10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CB5A4A5-EA97-1188-DC60-DFD6B293245E}"/>
              </a:ext>
            </a:extLst>
          </p:cNvPr>
          <p:cNvSpPr/>
          <p:nvPr/>
        </p:nvSpPr>
        <p:spPr>
          <a:xfrm>
            <a:off x="4956048" y="1508760"/>
            <a:ext cx="3776472" cy="603504"/>
          </a:xfrm>
          <a:prstGeom prst="rect">
            <a:avLst/>
          </a:prstGeom>
          <a:solidFill>
            <a:srgbClr val="F0FBF8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A7959FF-AAFC-64DF-408D-D223922CCA16}"/>
              </a:ext>
            </a:extLst>
          </p:cNvPr>
          <p:cNvSpPr/>
          <p:nvPr/>
        </p:nvSpPr>
        <p:spPr>
          <a:xfrm>
            <a:off x="5029200" y="1545336"/>
            <a:ext cx="3630168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sugiere arquitectura, detecta riesgos y compara alternativas</a:t>
            </a:r>
            <a:endParaRPr lang="en-US" sz="10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80DE38E-430E-C86F-A3D6-8EB3D70EAA46}"/>
              </a:ext>
            </a:extLst>
          </p:cNvPr>
          <p:cNvSpPr/>
          <p:nvPr/>
        </p:nvSpPr>
        <p:spPr>
          <a:xfrm>
            <a:off x="411480" y="2167128"/>
            <a:ext cx="1783080" cy="60350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90EE328-ECAD-E9F6-8C66-1B9285D32481}"/>
              </a:ext>
            </a:extLst>
          </p:cNvPr>
          <p:cNvSpPr/>
          <p:nvPr/>
        </p:nvSpPr>
        <p:spPr>
          <a:xfrm>
            <a:off x="411480" y="2167128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BC9D463-4746-E0FA-205E-E7EE072B603C}"/>
              </a:ext>
            </a:extLst>
          </p:cNvPr>
          <p:cNvSpPr/>
          <p:nvPr/>
        </p:nvSpPr>
        <p:spPr>
          <a:xfrm>
            <a:off x="2176272" y="2167128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3E01C5D-94F2-7B96-7670-70C810523851}"/>
              </a:ext>
            </a:extLst>
          </p:cNvPr>
          <p:cNvSpPr/>
          <p:nvPr/>
        </p:nvSpPr>
        <p:spPr>
          <a:xfrm>
            <a:off x="2286000" y="2167128"/>
            <a:ext cx="2651760" cy="603504"/>
          </a:xfrm>
          <a:prstGeom prst="rect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DE652C2-190E-4B8B-AC17-C817A91D3288}"/>
              </a:ext>
            </a:extLst>
          </p:cNvPr>
          <p:cNvSpPr/>
          <p:nvPr/>
        </p:nvSpPr>
        <p:spPr>
          <a:xfrm>
            <a:off x="2359152" y="2203704"/>
            <a:ext cx="2505456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manual, Stack Overflow, copia y adapta</a:t>
            </a:r>
            <a:endParaRPr lang="en-US" sz="10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07AEAF1-ADB6-521E-98DA-C4B9100D5E1E}"/>
              </a:ext>
            </a:extLst>
          </p:cNvPr>
          <p:cNvSpPr/>
          <p:nvPr/>
        </p:nvSpPr>
        <p:spPr>
          <a:xfrm>
            <a:off x="4956048" y="2167128"/>
            <a:ext cx="3776472" cy="603504"/>
          </a:xfrm>
          <a:prstGeom prst="rect">
            <a:avLst/>
          </a:prstGeom>
          <a:solidFill>
            <a:srgbClr val="E6F7F5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6C32390-F93A-5178-08E5-1D91C8D34692}"/>
              </a:ext>
            </a:extLst>
          </p:cNvPr>
          <p:cNvSpPr/>
          <p:nvPr/>
        </p:nvSpPr>
        <p:spPr>
          <a:xfrm>
            <a:off x="5029200" y="2203704"/>
            <a:ext cx="3630168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 el boilerplate, vos aportás el criterio y el contexto</a:t>
            </a:r>
            <a:endParaRPr lang="en-US" sz="10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9AE7C2B-2F53-90AD-050A-666CAF435E91}"/>
              </a:ext>
            </a:extLst>
          </p:cNvPr>
          <p:cNvSpPr/>
          <p:nvPr/>
        </p:nvSpPr>
        <p:spPr>
          <a:xfrm>
            <a:off x="411480" y="2825496"/>
            <a:ext cx="1783080" cy="60350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B57A8CB-1747-5187-CF58-B3DC43386B1B}"/>
              </a:ext>
            </a:extLst>
          </p:cNvPr>
          <p:cNvSpPr/>
          <p:nvPr/>
        </p:nvSpPr>
        <p:spPr>
          <a:xfrm>
            <a:off x="411480" y="2825496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EAC4561-4587-90AD-9085-360898441E30}"/>
              </a:ext>
            </a:extLst>
          </p:cNvPr>
          <p:cNvSpPr/>
          <p:nvPr/>
        </p:nvSpPr>
        <p:spPr>
          <a:xfrm>
            <a:off x="2176272" y="2825496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8A2061D-B0C8-4B18-AE21-8D2A50AB79BF}"/>
              </a:ext>
            </a:extLst>
          </p:cNvPr>
          <p:cNvSpPr/>
          <p:nvPr/>
        </p:nvSpPr>
        <p:spPr>
          <a:xfrm>
            <a:off x="2286000" y="2825496"/>
            <a:ext cx="26517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62CC010-C954-F8F8-D392-B97396C94341}"/>
              </a:ext>
            </a:extLst>
          </p:cNvPr>
          <p:cNvSpPr/>
          <p:nvPr/>
        </p:nvSpPr>
        <p:spPr>
          <a:xfrm>
            <a:off x="2359152" y="2862072"/>
            <a:ext cx="2505456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manual, bug hunting lento</a:t>
            </a:r>
            <a:endParaRPr lang="en-US" sz="10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3C5C4689-3606-A039-D39F-73FCFF1031BE}"/>
              </a:ext>
            </a:extLst>
          </p:cNvPr>
          <p:cNvSpPr/>
          <p:nvPr/>
        </p:nvSpPr>
        <p:spPr>
          <a:xfrm>
            <a:off x="4956048" y="2825496"/>
            <a:ext cx="3776472" cy="603504"/>
          </a:xfrm>
          <a:prstGeom prst="rect">
            <a:avLst/>
          </a:prstGeom>
          <a:solidFill>
            <a:srgbClr val="F0FBF8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CF2CB5E-708F-7F89-9E3C-2D70FBFE8C81}"/>
              </a:ext>
            </a:extLst>
          </p:cNvPr>
          <p:cNvSpPr/>
          <p:nvPr/>
        </p:nvSpPr>
        <p:spPr>
          <a:xfrm>
            <a:off x="5029200" y="2862072"/>
            <a:ext cx="3630168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detecta bugs, sugiere mejoras y genera tests automáticamente</a:t>
            </a:r>
            <a:endParaRPr lang="en-US" sz="10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BA91C5E-E231-F95B-D881-74F4DBBA8B30}"/>
              </a:ext>
            </a:extLst>
          </p:cNvPr>
          <p:cNvSpPr/>
          <p:nvPr/>
        </p:nvSpPr>
        <p:spPr>
          <a:xfrm>
            <a:off x="411480" y="3483864"/>
            <a:ext cx="1783080" cy="60350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4537BFF-03B3-6EB7-2E34-C10CFD2FBEBF}"/>
              </a:ext>
            </a:extLst>
          </p:cNvPr>
          <p:cNvSpPr/>
          <p:nvPr/>
        </p:nvSpPr>
        <p:spPr>
          <a:xfrm>
            <a:off x="411480" y="3483864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</a:t>
            </a:r>
            <a:endParaRPr lang="en-US" sz="13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E45BF71-880E-085A-36C4-25BAD4F8E159}"/>
              </a:ext>
            </a:extLst>
          </p:cNvPr>
          <p:cNvSpPr/>
          <p:nvPr/>
        </p:nvSpPr>
        <p:spPr>
          <a:xfrm>
            <a:off x="2176272" y="3483864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4D614DF7-782C-F840-1475-B6CC051CD912}"/>
              </a:ext>
            </a:extLst>
          </p:cNvPr>
          <p:cNvSpPr/>
          <p:nvPr/>
        </p:nvSpPr>
        <p:spPr>
          <a:xfrm>
            <a:off x="2286000" y="3483864"/>
            <a:ext cx="2651760" cy="603504"/>
          </a:xfrm>
          <a:prstGeom prst="rect">
            <a:avLst/>
          </a:prstGeom>
          <a:solidFill>
            <a:srgbClr val="EEF4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06CB22F-C65C-E5F7-036B-B5D853C26047}"/>
              </a:ext>
            </a:extLst>
          </p:cNvPr>
          <p:cNvSpPr/>
          <p:nvPr/>
        </p:nvSpPr>
        <p:spPr>
          <a:xfrm>
            <a:off x="2359152" y="3520440"/>
            <a:ext cx="2505456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técnica: se deja para después</a:t>
            </a:r>
            <a:endParaRPr lang="en-US" sz="105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99937D15-711F-2522-CB13-5AD5F424A4AE}"/>
              </a:ext>
            </a:extLst>
          </p:cNvPr>
          <p:cNvSpPr/>
          <p:nvPr/>
        </p:nvSpPr>
        <p:spPr>
          <a:xfrm>
            <a:off x="4956048" y="3483864"/>
            <a:ext cx="3776472" cy="603504"/>
          </a:xfrm>
          <a:prstGeom prst="rect">
            <a:avLst/>
          </a:prstGeom>
          <a:solidFill>
            <a:srgbClr val="E6F7F5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D826286-2BE0-FFCD-393F-3E5CAFCB21F4}"/>
              </a:ext>
            </a:extLst>
          </p:cNvPr>
          <p:cNvSpPr/>
          <p:nvPr/>
        </p:nvSpPr>
        <p:spPr>
          <a:xfrm>
            <a:off x="5029200" y="3520440"/>
            <a:ext cx="3630168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 docs al ritmo del código, sin friccion adicional</a:t>
            </a:r>
            <a:endParaRPr lang="en-US" sz="10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98D8A60B-1038-4EB3-8E31-A35E98F3C41A}"/>
              </a:ext>
            </a:extLst>
          </p:cNvPr>
          <p:cNvSpPr/>
          <p:nvPr/>
        </p:nvSpPr>
        <p:spPr>
          <a:xfrm>
            <a:off x="411480" y="4142232"/>
            <a:ext cx="1783080" cy="60350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8A99C507-7885-036A-49DF-597853737F38}"/>
              </a:ext>
            </a:extLst>
          </p:cNvPr>
          <p:cNvSpPr/>
          <p:nvPr/>
        </p:nvSpPr>
        <p:spPr>
          <a:xfrm>
            <a:off x="411480" y="4142232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</a:t>
            </a:r>
            <a:endParaRPr lang="en-US" sz="13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4B73A91E-39C1-9567-CD1E-484866BACB7D}"/>
              </a:ext>
            </a:extLst>
          </p:cNvPr>
          <p:cNvSpPr/>
          <p:nvPr/>
        </p:nvSpPr>
        <p:spPr>
          <a:xfrm>
            <a:off x="2176272" y="4142232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B4D78097-423B-7F91-36E3-428641EA0397}"/>
              </a:ext>
            </a:extLst>
          </p:cNvPr>
          <p:cNvSpPr/>
          <p:nvPr/>
        </p:nvSpPr>
        <p:spPr>
          <a:xfrm>
            <a:off x="2286000" y="4142232"/>
            <a:ext cx="26517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B81EDAA8-0D7D-AFB0-B492-B6B378D88FAD}"/>
              </a:ext>
            </a:extLst>
          </p:cNvPr>
          <p:cNvSpPr/>
          <p:nvPr/>
        </p:nvSpPr>
        <p:spPr>
          <a:xfrm>
            <a:off x="2359152" y="4178808"/>
            <a:ext cx="2505456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one-off, procesos manuales que escalan mal</a:t>
            </a:r>
            <a:endParaRPr lang="en-US" sz="105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FDBE194F-B51A-0502-D6CB-A0B057C4447C}"/>
              </a:ext>
            </a:extLst>
          </p:cNvPr>
          <p:cNvSpPr/>
          <p:nvPr/>
        </p:nvSpPr>
        <p:spPr>
          <a:xfrm>
            <a:off x="4956048" y="4142232"/>
            <a:ext cx="3776472" cy="603504"/>
          </a:xfrm>
          <a:prstGeom prst="rect">
            <a:avLst/>
          </a:prstGeom>
          <a:solidFill>
            <a:srgbClr val="F0FBF8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F77A2EFC-B558-F1C3-1171-371B04BF3242}"/>
              </a:ext>
            </a:extLst>
          </p:cNvPr>
          <p:cNvSpPr/>
          <p:nvPr/>
        </p:nvSpPr>
        <p:spPr>
          <a:xfrm>
            <a:off x="5029200" y="4178808"/>
            <a:ext cx="3630168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construye los scripts, integra servicios y orquesta flujos</a:t>
            </a:r>
            <a:endParaRPr lang="en-US" sz="105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3DCA8F51-3A0A-EE0A-2436-D78ECDA2E345}"/>
              </a:ext>
            </a:extLst>
          </p:cNvPr>
          <p:cNvSpPr/>
          <p:nvPr/>
        </p:nvSpPr>
        <p:spPr>
          <a:xfrm>
            <a:off x="411480" y="4800600"/>
            <a:ext cx="8321040" cy="22860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643D4B67-BC13-6277-DEAB-3FFB7298058E}"/>
              </a:ext>
            </a:extLst>
          </p:cNvPr>
          <p:cNvSpPr/>
          <p:nvPr/>
        </p:nvSpPr>
        <p:spPr>
          <a:xfrm>
            <a:off x="411480" y="4800600"/>
            <a:ext cx="64008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C041EE23-3A41-9B35-212A-E771901F8D83}"/>
              </a:ext>
            </a:extLst>
          </p:cNvPr>
          <p:cNvSpPr/>
          <p:nvPr/>
        </p:nvSpPr>
        <p:spPr>
          <a:xfrm>
            <a:off x="594360" y="4800600"/>
            <a:ext cx="8092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no es escribir más rápido. Es construir cosas que antes eran imposibles para un equipo de este tamaño.</a:t>
            </a:r>
            <a:endParaRPr lang="en-US" sz="1050" dirty="0"/>
          </a:p>
        </p:txBody>
      </p:sp>
      <p:pic>
        <p:nvPicPr>
          <p:cNvPr id="46" name="Imagen 15">
            <a:extLst>
              <a:ext uri="{FF2B5EF4-FFF2-40B4-BE49-F238E27FC236}">
                <a16:creationId xmlns:a16="http://schemas.microsoft.com/office/drawing/2014/main" id="{B8DB43CD-34DC-F321-4B1E-8F1FA5AF6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867" y="88187"/>
            <a:ext cx="656409" cy="39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82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encuentros. Un co-desarrollador.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261872" y="1444752"/>
            <a:ext cx="54864" cy="35204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1115568" y="1463040"/>
            <a:ext cx="292608" cy="2926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411480" y="143560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Enc. 1–3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54480" y="1417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Técnicos de IA + Claude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435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modelos, stack Claude completo, por qué Claude vs. Copilot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115568" y="2029968"/>
            <a:ext cx="292608" cy="292608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411480" y="2002536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Enc. 4–7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54480" y="19842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Asistido por 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20025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(devs) / notebooks + SDK (analistas). Generar, refactorizar, testear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15568" y="2596896"/>
            <a:ext cx="292608" cy="292608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411480" y="2569464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Enc. 8–11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54480" y="25511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la API de Claude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5694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REST y Python SDK. Claude como motor dentro de tus aplicaciones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115568" y="3163824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411480" y="3136392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Enc. 12–15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54480" y="3118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Flujos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3136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scripts. Integración entre servicios. Pipelines automatizados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115568" y="3730752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411480" y="370332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Enc. 16–18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54480" y="3685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Arquitecturas con IA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37033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Agentes, MCP, orquestación (devs) / RAG y pipelines de datos (analistas)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115568" y="4297680"/>
            <a:ext cx="292608" cy="2926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411480" y="42702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Enc. 19–20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554480" y="42519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0" y="42702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funciona. Presentación técnica al grupo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curso de IA. Es un curso de cómo desarrollar mejor con IA.</a:t>
            </a:r>
            <a:endParaRPr lang="en-US" sz="1200" dirty="0"/>
          </a:p>
        </p:txBody>
      </p:sp>
      <p:pic>
        <p:nvPicPr>
          <p:cNvPr id="32" name="Imagen 15">
            <a:extLst>
              <a:ext uri="{FF2B5EF4-FFF2-40B4-BE49-F238E27FC236}">
                <a16:creationId xmlns:a16="http://schemas.microsoft.com/office/drawing/2014/main" id="{A5139204-A1B7-3345-D8D5-4EDF875F6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867" y="88187"/>
            <a:ext cx="656409" cy="3964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502920" y="0"/>
            <a:ext cx="164592" cy="514350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1005840" y="14173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" y="17830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</a:t>
            </a:r>
            <a:endParaRPr lang="en-US" sz="5800" dirty="0"/>
          </a:p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funciona.</a:t>
            </a:r>
            <a:endParaRPr lang="en-US" sz="5800" dirty="0"/>
          </a:p>
        </p:txBody>
      </p:sp>
      <p:sp>
        <p:nvSpPr>
          <p:cNvPr id="6" name="Shape 4"/>
          <p:cNvSpPr/>
          <p:nvPr/>
        </p:nvSpPr>
        <p:spPr>
          <a:xfrm>
            <a:off x="1005840" y="3703320"/>
            <a:ext cx="292608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005840" y="3858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 tutorial. No un demo. Una herramienta real que van a poder usar.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ejercicio. Es una entrega.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4160520" cy="32461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41605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548640" y="12252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841248" y="16824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funciona y se puede demostrar en vivo.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19456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841248" y="21579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herramienta, servicio, script o agente real.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67004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841248" y="26334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con Claude integrado en el ciclo de dev.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145536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841248" y="31089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entregable que se puede usar el lunes siguiente.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621024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841248" y="35844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presentación técnica de 10 minutos al grupo.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207008"/>
            <a:ext cx="4069080" cy="3246120"/>
          </a:xfrm>
          <a:prstGeom prst="rect">
            <a:avLst/>
          </a:prstGeom>
          <a:solidFill>
            <a:srgbClr val="EEF4FB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4663440" y="1207008"/>
            <a:ext cx="4069080" cy="3474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4800600" y="12252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NO 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1682496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47488" y="168249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tutorial de Claude que hicieron siguiendo un blog.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2157984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47488" y="215798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chat wrapper que llama a la API y devuelve texto.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73168" y="263347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47488" y="263347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Jupyter notebook sin caso de uso claro.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73168" y="310896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47488" y="31089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solo funciona en el entorno del autor.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73168" y="3584448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47488" y="35844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presentación de slides sobre IA.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" y="4617720"/>
            <a:ext cx="8321040" cy="347472"/>
          </a:xfrm>
          <a:prstGeom prst="rect">
            <a:avLst/>
          </a:prstGeom>
          <a:solidFill>
            <a:srgbClr val="F97316">
              <a:alpha val="10000"/>
            </a:srgbClr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Shape 29"/>
          <p:cNvSpPr/>
          <p:nvPr/>
        </p:nvSpPr>
        <p:spPr>
          <a:xfrm>
            <a:off x="411480" y="4617720"/>
            <a:ext cx="6400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594360" y="4617720"/>
            <a:ext cx="80924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Critério: ¿Puedo hacer un demo en vivo sin que se rompa? Si la respuesta es sí, está bien.</a:t>
            </a:r>
            <a:endParaRPr lang="en-US" sz="1300" dirty="0"/>
          </a:p>
        </p:txBody>
      </p:sp>
      <p:pic>
        <p:nvPicPr>
          <p:cNvPr id="33" name="Imagen 15">
            <a:extLst>
              <a:ext uri="{FF2B5EF4-FFF2-40B4-BE49-F238E27FC236}">
                <a16:creationId xmlns:a16="http://schemas.microsoft.com/office/drawing/2014/main" id="{592FBAF3-6056-9E2F-F1A7-314D61D34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867" y="88187"/>
            <a:ext cx="656409" cy="3964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podés construir?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64008" cy="11155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576072" y="12618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76072" y="1444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 Claude integrado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" y="1755648"/>
            <a:ext cx="3813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endpoint que usa Claude para procesar, clasificar o generar contenido dentro de una app existente.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395728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411480" y="2395728"/>
            <a:ext cx="64008" cy="11155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576072" y="24688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76072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para tu workflow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" y="2962656"/>
            <a:ext cx="3813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automatizando una tarea repetitiva real: code review, generación de tests, documentación.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602736"/>
            <a:ext cx="4069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411480" y="3602736"/>
            <a:ext cx="64008" cy="11155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576072" y="36758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76072" y="38587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análisis con 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072" y="4169664"/>
            <a:ext cx="3813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Python que procesa datos reales del Ministerio y genera insights o reportes automáticamente.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188720"/>
            <a:ext cx="40233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4709160" y="1188720"/>
            <a:ext cx="64008" cy="11155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4873752" y="126187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73752" y="144475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sobre documentos propios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73752" y="1755648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que permite hacerle preguntas a la documentación interna y obtener respuestas precisas.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395728"/>
            <a:ext cx="40233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4709160" y="2395728"/>
            <a:ext cx="64008" cy="11155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4873752" y="246888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+ Analistas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73752" y="26517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con n8n + Claude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73752" y="2962656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que conecta sistemas reales del Ministerio con Claude para procesar, resumir o enrutar información.</a:t>
            </a:r>
            <a:endParaRPr lang="en-US" sz="1050" dirty="0"/>
          </a:p>
        </p:txBody>
      </p:sp>
      <p:pic>
        <p:nvPicPr>
          <p:cNvPr id="29" name="Imagen 15">
            <a:extLst>
              <a:ext uri="{FF2B5EF4-FFF2-40B4-BE49-F238E27FC236}">
                <a16:creationId xmlns:a16="http://schemas.microsoft.com/office/drawing/2014/main" id="{2F5CA4FC-F413-E63C-6FDD-3A33B88DA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867" y="88187"/>
            <a:ext cx="656409" cy="3964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entrega al final — se construye en el camino.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212848"/>
            <a:ext cx="813816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014984" y="2084832"/>
            <a:ext cx="274320" cy="274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411480" y="16642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" y="2487168"/>
            <a:ext cx="1481328" cy="2331720"/>
          </a:xfrm>
          <a:prstGeom prst="rect">
            <a:avLst/>
          </a:prstGeom>
          <a:solidFill>
            <a:srgbClr val="F97316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466344" y="25603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" y="2926080"/>
            <a:ext cx="1481328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502920" y="2999232"/>
            <a:ext cx="1408176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Tenés una idea de qué problemática de tu trabajo podría resolverse con IA.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79192" y="2084832"/>
            <a:ext cx="274320" cy="27432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2075688" y="16642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Enc. 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30552" y="2487168"/>
            <a:ext cx="1481328" cy="2331720"/>
          </a:xfrm>
          <a:prstGeom prst="rect">
            <a:avLst/>
          </a:prstGeom>
          <a:solidFill>
            <a:srgbClr val="EEF4FB"/>
          </a:solidFill>
          <a:ln w="10160">
            <a:solidFill>
              <a:srgbClr val="1A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2130552" y="25603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30552" y="2926080"/>
            <a:ext cx="1481328" cy="36576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2167128" y="2999232"/>
            <a:ext cx="1408176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claro, stack decidido, primer prototipo conceptual.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2084832"/>
            <a:ext cx="274320" cy="27432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3739896" y="16642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Enc. 11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94760" y="2487168"/>
            <a:ext cx="1481328" cy="2331720"/>
          </a:xfrm>
          <a:prstGeom prst="rect">
            <a:avLst/>
          </a:prstGeom>
          <a:solidFill>
            <a:srgbClr val="EEF4FB"/>
          </a:solidFill>
          <a:ln w="10160">
            <a:solidFill>
              <a:srgbClr val="1A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3794760" y="25603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94760" y="2926080"/>
            <a:ext cx="1481328" cy="36576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3831336" y="2999232"/>
            <a:ext cx="1408176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corre. La API responde. El flujo básico funciona.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07608" y="2084832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5404104" y="16642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Enc. 17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58968" y="2487168"/>
            <a:ext cx="1481328" cy="2331720"/>
          </a:xfrm>
          <a:prstGeom prst="rect">
            <a:avLst/>
          </a:prstGeom>
          <a:solidFill>
            <a:srgbClr val="F0FBF8"/>
          </a:solidFill>
          <a:ln w="1016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5458968" y="25603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funcional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58968" y="2926080"/>
            <a:ext cx="1481328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5495544" y="2999232"/>
            <a:ext cx="1408176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Probado, iterado, robusto. Ready para demo.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71816" y="2084832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7068312" y="16642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Enc. 20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23176" y="2487168"/>
            <a:ext cx="1481328" cy="2331720"/>
          </a:xfrm>
          <a:prstGeom prst="rect">
            <a:avLst/>
          </a:prstGeom>
          <a:solidFill>
            <a:srgbClr val="F0FBF8"/>
          </a:solidFill>
          <a:ln w="1016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7123176" y="25603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entrega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123176" y="2926080"/>
            <a:ext cx="1481328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Text 32"/>
          <p:cNvSpPr/>
          <p:nvPr/>
        </p:nvSpPr>
        <p:spPr>
          <a:xfrm>
            <a:off x="7159752" y="2999232"/>
            <a:ext cx="1408176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minutos. Demo en vivo. Código compartido. Preguntas del grupo.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" y="13898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783080" y="13898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el programa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55080" y="1389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</a:t>
            </a:r>
            <a:endParaRPr lang="en-US" sz="850" dirty="0"/>
          </a:p>
        </p:txBody>
      </p:sp>
      <p:pic>
        <p:nvPicPr>
          <p:cNvPr id="38" name="Imagen 15">
            <a:extLst>
              <a:ext uri="{FF2B5EF4-FFF2-40B4-BE49-F238E27FC236}">
                <a16:creationId xmlns:a16="http://schemas.microsoft.com/office/drawing/2014/main" id="{A58CCBC1-F7FA-B8CB-64D2-0FBF5E4D5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867" y="88187"/>
            <a:ext cx="656409" cy="3964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E38657-70C3-7DB8-8D05-B9E66BBCC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6A1086-9BE8-C05F-FAD6-B0F5C9AE12C5}"/>
              </a:ext>
            </a:extLst>
          </p:cNvPr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3B1499-A68A-9B4E-0B51-4CB4D8B988A1}"/>
              </a:ext>
            </a:extLst>
          </p:cNvPr>
          <p:cNvSpPr/>
          <p:nvPr/>
        </p:nvSpPr>
        <p:spPr>
          <a:xfrm>
            <a:off x="502920" y="0"/>
            <a:ext cx="164592" cy="514350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107803-4B96-A4BE-C2DC-2CA1DEBBEF50}"/>
              </a:ext>
            </a:extLst>
          </p:cNvPr>
          <p:cNvSpPr/>
          <p:nvPr/>
        </p:nvSpPr>
        <p:spPr>
          <a:xfrm>
            <a:off x="1005840" y="14173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AR" sz="1000" b="1" kern="0" spc="2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Conociéndonos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4096C86-47B5-EF3D-5C7F-56F62968793F}"/>
              </a:ext>
            </a:extLst>
          </p:cNvPr>
          <p:cNvSpPr/>
          <p:nvPr/>
        </p:nvSpPr>
        <p:spPr>
          <a:xfrm>
            <a:off x="1005840" y="17830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AR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donde arrancamos.</a:t>
            </a:r>
            <a:endParaRPr lang="es-AR" sz="5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C041A71-BFA8-FA58-74D2-F5DAAA402FB0}"/>
              </a:ext>
            </a:extLst>
          </p:cNvPr>
          <p:cNvSpPr/>
          <p:nvPr/>
        </p:nvSpPr>
        <p:spPr>
          <a:xfrm>
            <a:off x="1005840" y="3703320"/>
            <a:ext cx="292608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1660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¿Desde dónde arranca cada uno?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64008" cy="1737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576072" y="12801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6072" y="151790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¿Usás IA en tu workflow de desarrollo hoy?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6072" y="21214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Regularmente  ·  A veces  ·  La probé pero no la uso  ·  Nunca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30632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411480" y="3063240"/>
            <a:ext cx="64008" cy="1737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576072" y="31546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" y="339242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la usás principalmente?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76072" y="399592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Buscar/preguntar  ·  Generar código  ·  Revisar/debug  ·  Integrada en mi IDE  ·  No la uso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64008" cy="1737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5010912" y="12801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10912" y="151790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te frena para integrarla más en tu trabajo?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10912" y="21214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confío en el código que genera  ·  Mi stack no está soportado  ·  Seguridad/políticas  ·  Nada, ya la uso bien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30632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4846320" y="3063240"/>
            <a:ext cx="64008" cy="1737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5010912" y="31546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10912" y="339242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¿Tenés en mente algo que podrías construir integrando IA?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10912" y="399592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algo concreto  ·  Tengo ideas  ·  Todavía no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411480" y="4828032"/>
            <a:ext cx="64008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594360" y="4828032"/>
            <a:ext cx="8092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Exactamente desde ahí arrancamos.</a:t>
            </a:r>
            <a:endParaRPr lang="en-US" sz="1150" dirty="0"/>
          </a:p>
        </p:txBody>
      </p:sp>
      <p:pic>
        <p:nvPicPr>
          <p:cNvPr id="27" name="Imagen 15">
            <a:extLst>
              <a:ext uri="{FF2B5EF4-FFF2-40B4-BE49-F238E27FC236}">
                <a16:creationId xmlns:a16="http://schemas.microsoft.com/office/drawing/2014/main" id="{B23B5B50-2B99-DC3C-0660-0B2EAB782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867" y="88187"/>
            <a:ext cx="656409" cy="3964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28041-A245-8515-A59A-C2B05A835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F0A6A7F-0EE0-4859-FEC9-B18F83DAA34C}"/>
              </a:ext>
            </a:extLst>
          </p:cNvPr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C92ECB-608F-0B29-FF6D-34F9DDEA3F22}"/>
              </a:ext>
            </a:extLst>
          </p:cNvPr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3000" b="1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Contanos</a:t>
            </a:r>
            <a:r>
              <a:rPr lang="es-AR" sz="300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vos</a:t>
            </a:r>
            <a:endParaRPr lang="es-AR" sz="3000" noProof="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850F691-95E9-0A85-9C8B-EF148EAF1330}"/>
              </a:ext>
            </a:extLst>
          </p:cNvPr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32DFC58-4BE2-F420-2736-57DC5D196E5C}"/>
              </a:ext>
            </a:extLst>
          </p:cNvPr>
          <p:cNvSpPr/>
          <p:nvPr/>
        </p:nvSpPr>
        <p:spPr>
          <a:xfrm>
            <a:off x="411480" y="4828032"/>
            <a:ext cx="64008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542C005-32E2-AEFB-FB35-515AE2897E08}"/>
              </a:ext>
            </a:extLst>
          </p:cNvPr>
          <p:cNvSpPr/>
          <p:nvPr/>
        </p:nvSpPr>
        <p:spPr>
          <a:xfrm>
            <a:off x="594360" y="4828032"/>
            <a:ext cx="8092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Exactamente desde ahí arrancamos.</a:t>
            </a:r>
            <a:endParaRPr lang="en-US" sz="11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C19CE29-C153-583D-B6F2-C1D6A0B8A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634" y="1192310"/>
            <a:ext cx="3232732" cy="3232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B0845F-B6CD-439A-4FF8-5318D463F079}"/>
              </a:ext>
            </a:extLst>
          </p:cNvPr>
          <p:cNvSpPr txBox="1"/>
          <p:nvPr/>
        </p:nvSpPr>
        <p:spPr>
          <a:xfrm>
            <a:off x="3278777" y="4378970"/>
            <a:ext cx="27823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100" dirty="0"/>
              <a:t>https://forms.gle/8SWq5WEuPFnWM5Pq5</a:t>
            </a:r>
          </a:p>
        </p:txBody>
      </p:sp>
      <p:pic>
        <p:nvPicPr>
          <p:cNvPr id="5" name="Imagen 15">
            <a:extLst>
              <a:ext uri="{FF2B5EF4-FFF2-40B4-BE49-F238E27FC236}">
                <a16:creationId xmlns:a16="http://schemas.microsoft.com/office/drawing/2014/main" id="{25C81619-E39D-20C9-1957-1B6ADFF3F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867" y="88187"/>
            <a:ext cx="656409" cy="39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658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“El </a:t>
            </a:r>
            <a:r>
              <a:rPr lang="en-US" sz="2600" b="1" i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código</a:t>
            </a: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es </a:t>
            </a:r>
            <a:r>
              <a:rPr lang="en-US" sz="2600" b="1" i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</a:t>
            </a: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600" b="1" i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mismo</a:t>
            </a: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 err="1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Ahora</a:t>
            </a:r>
            <a:r>
              <a:rPr lang="en-US" sz="2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i="1" dirty="0" err="1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tenes</a:t>
            </a:r>
            <a:r>
              <a:rPr lang="en-US" sz="2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un </a:t>
            </a:r>
            <a:r>
              <a:rPr lang="en-US" sz="2400" i="1" dirty="0" err="1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aliado</a:t>
            </a:r>
            <a:r>
              <a:rPr lang="en-US" sz="2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i="1" dirty="0" err="1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</a:t>
            </a:r>
            <a:r>
              <a:rPr lang="en-US" sz="2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i="1" dirty="0" err="1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</a:t>
            </a:r>
            <a:r>
              <a:rPr lang="en-US" sz="2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CBD5E1"/>
                </a:solidFill>
                <a:latin typeface="Georgia" pitchFamily="34" charset="0"/>
              </a:rPr>
              <a:t>da </a:t>
            </a:r>
            <a:r>
              <a:rPr lang="en-US" sz="2400" i="1" dirty="0" err="1">
                <a:solidFill>
                  <a:srgbClr val="CBD5E1"/>
                </a:solidFill>
                <a:latin typeface="Georgia" pitchFamily="34" charset="0"/>
              </a:rPr>
              <a:t>superpoderes</a:t>
            </a:r>
            <a:r>
              <a:rPr lang="en-US" sz="2400" i="1" dirty="0">
                <a:solidFill>
                  <a:srgbClr val="CBD5E1"/>
                </a:solidFill>
                <a:latin typeface="Georgia" pitchFamily="34" charset="0"/>
              </a:rPr>
              <a:t> para </a:t>
            </a:r>
            <a:r>
              <a:rPr lang="en-US" sz="2400" i="1" dirty="0" err="1">
                <a:solidFill>
                  <a:srgbClr val="CBD5E1"/>
                </a:solidFill>
                <a:latin typeface="Georgia" pitchFamily="34" charset="0"/>
              </a:rPr>
              <a:t>hacer</a:t>
            </a:r>
            <a:r>
              <a:rPr lang="en-US" sz="2400" i="1" dirty="0">
                <a:solidFill>
                  <a:srgbClr val="CBD5E1"/>
                </a:solidFill>
                <a:latin typeface="Georgia" pitchFamily="34" charset="0"/>
              </a:rPr>
              <a:t> </a:t>
            </a:r>
            <a:r>
              <a:rPr lang="en-US" sz="2400" i="1" dirty="0" err="1">
                <a:solidFill>
                  <a:srgbClr val="CBD5E1"/>
                </a:solidFill>
                <a:latin typeface="Georgia" pitchFamily="34" charset="0"/>
              </a:rPr>
              <a:t>cosas</a:t>
            </a:r>
            <a:r>
              <a:rPr lang="en-US" sz="2400" i="1" dirty="0">
                <a:solidFill>
                  <a:srgbClr val="CBD5E1"/>
                </a:solidFill>
                <a:latin typeface="Georgia" pitchFamily="34" charset="0"/>
              </a:rPr>
              <a:t> </a:t>
            </a:r>
            <a:r>
              <a:rPr lang="en-US" sz="2400" i="1" dirty="0" err="1">
                <a:solidFill>
                  <a:srgbClr val="CBD5E1"/>
                </a:solidFill>
                <a:latin typeface="Georgia" pitchFamily="34" charset="0"/>
              </a:rPr>
              <a:t>extraordinarias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Eso es lo que viene.”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474720" y="3698748"/>
            <a:ext cx="2194560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457200" y="4544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www.dbpmconsulting.com</a:t>
            </a:r>
            <a:endParaRPr lang="en-US" sz="10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4F80C1AD-11B4-2F2D-38BB-042C65386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349" y="3800471"/>
            <a:ext cx="1139301" cy="6880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1345</Words>
  <Application>Microsoft Office PowerPoint</Application>
  <PresentationFormat>On-screen Show (16:9)</PresentationFormat>
  <Paragraphs>233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0 — Devs — IA en el ciclo de desarrollo</dc:title>
  <dc:subject>PptxGenJS Presentation</dc:subject>
  <dc:creator>PptxGenJS</dc:creator>
  <cp:lastModifiedBy>Marcelo Hernan Carballo Llosa</cp:lastModifiedBy>
  <cp:revision>9</cp:revision>
  <dcterms:created xsi:type="dcterms:W3CDTF">2026-04-23T23:45:44Z</dcterms:created>
  <dcterms:modified xsi:type="dcterms:W3CDTF">2026-04-24T12:19:30Z</dcterms:modified>
</cp:coreProperties>
</file>